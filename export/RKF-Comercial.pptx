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7750" y="952500"/>
            <a:ext cx="609600" cy="60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1123950"/>
            <a:ext cx="203209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9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Grupo Aconcagua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47750" y="3452068"/>
            <a:ext cx="16678275" cy="2651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0" b="1" spc="-367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Sistema de gestión </a:t>
            </a:r>
            <a:pPr algn="l" indent="0" marL="0">
              <a:lnSpc>
                <a:spcPct val="98000"/>
              </a:lnSpc>
              <a:buNone/>
            </a:pPr>
            <a:r>
              <a:rPr lang="en-US" sz="10500" b="1" spc="-367" kern="0" dirty="0">
                <a:solidFill>
                  <a:srgbClr val="0B3A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empresarial.</a:t>
            </a:r>
            <a:endParaRPr lang="en-US" sz="10500" dirty="0"/>
          </a:p>
        </p:txBody>
      </p:sp>
      <p:sp>
        <p:nvSpPr>
          <p:cNvPr id="6" name="Text 3"/>
          <p:cNvSpPr/>
          <p:nvPr/>
        </p:nvSpPr>
        <p:spPr>
          <a:xfrm>
            <a:off x="1047750" y="6408390"/>
            <a:ext cx="12753975" cy="978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85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Una sola plataforma para vender, almacenar, repartir, cobrar e importar — diseñada para distribuidores mayoristas que operan en la calle.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47750" y="8839200"/>
            <a:ext cx="321348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PRESENTACIÓN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47750" y="9134475"/>
            <a:ext cx="321348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Visión comercial del sistema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6576625" y="8839200"/>
            <a:ext cx="6636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b="1" spc="300" kern="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2026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6576625" y="9134475"/>
            <a:ext cx="6636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v. 1.0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3232993"/>
            <a:ext cx="8039910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spc="-108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Coordinación operacional.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047750" y="5015954"/>
            <a:ext cx="8039910" cy="2304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A234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Vendedores en ruta, inventario distribuido en bodega, flota de reparto, facturación electrónica obligatoria, gestión de cobranzas y compras al exterior. Habitualmente cada área opera en un sistema independiente o, en su defecto, en planillas.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805988" y="2438400"/>
            <a:ext cx="7434114" cy="9525"/>
          </a:xfrm>
          <a:prstGeom prst="rect">
            <a:avLst/>
          </a:prstGeom>
          <a:solidFill>
            <a:srgbClr val="E4E7EE"/>
          </a:solidFill>
          <a:ln/>
        </p:spPr>
      </p:sp>
      <p:sp>
        <p:nvSpPr>
          <p:cNvPr id="6" name="Text 4"/>
          <p:cNvSpPr/>
          <p:nvPr/>
        </p:nvSpPr>
        <p:spPr>
          <a:xfrm>
            <a:off x="9805988" y="2695575"/>
            <a:ext cx="83820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spc="98" kern="0" dirty="0">
                <a:solidFill>
                  <a:srgbClr val="0B3A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834688" y="2657475"/>
            <a:ext cx="659757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dirty="0">
                <a:solidFill>
                  <a:srgbClr val="1A234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Pedidos levantados desde el celular del vendedor.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805988" y="3462338"/>
            <a:ext cx="7434114" cy="9525"/>
          </a:xfrm>
          <a:prstGeom prst="rect">
            <a:avLst/>
          </a:prstGeom>
          <a:solidFill>
            <a:srgbClr val="E4E7EE"/>
          </a:solidFill>
          <a:ln/>
        </p:spPr>
      </p:sp>
      <p:sp>
        <p:nvSpPr>
          <p:cNvPr id="9" name="Text 7"/>
          <p:cNvSpPr/>
          <p:nvPr/>
        </p:nvSpPr>
        <p:spPr>
          <a:xfrm>
            <a:off x="9805988" y="3719512"/>
            <a:ext cx="83820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spc="98" kern="0" dirty="0">
                <a:solidFill>
                  <a:srgbClr val="0B3A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834688" y="3681413"/>
            <a:ext cx="659757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dirty="0">
                <a:solidFill>
                  <a:srgbClr val="1A234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Stock distribuido en pallets cerrados y unidades sueltas.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805988" y="4872038"/>
            <a:ext cx="7434114" cy="9525"/>
          </a:xfrm>
          <a:prstGeom prst="rect">
            <a:avLst/>
          </a:prstGeom>
          <a:solidFill>
            <a:srgbClr val="E4E7EE"/>
          </a:solidFill>
          <a:ln/>
        </p:spPr>
      </p:sp>
      <p:sp>
        <p:nvSpPr>
          <p:cNvPr id="12" name="Text 10"/>
          <p:cNvSpPr/>
          <p:nvPr/>
        </p:nvSpPr>
        <p:spPr>
          <a:xfrm>
            <a:off x="9805988" y="5129213"/>
            <a:ext cx="83820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spc="98" kern="0" dirty="0">
                <a:solidFill>
                  <a:srgbClr val="0B3A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03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834688" y="5091113"/>
            <a:ext cx="659757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dirty="0">
                <a:solidFill>
                  <a:srgbClr val="1A234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Repartos programados y optimización de ruta.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805988" y="5895975"/>
            <a:ext cx="7434114" cy="9525"/>
          </a:xfrm>
          <a:prstGeom prst="rect">
            <a:avLst/>
          </a:prstGeom>
          <a:solidFill>
            <a:srgbClr val="E4E7EE"/>
          </a:solidFill>
          <a:ln/>
        </p:spPr>
      </p:sp>
      <p:sp>
        <p:nvSpPr>
          <p:cNvPr id="15" name="Text 13"/>
          <p:cNvSpPr/>
          <p:nvPr/>
        </p:nvSpPr>
        <p:spPr>
          <a:xfrm>
            <a:off x="9805988" y="6153150"/>
            <a:ext cx="83820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spc="98" kern="0" dirty="0">
                <a:solidFill>
                  <a:srgbClr val="0B3A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04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834688" y="6115050"/>
            <a:ext cx="659757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dirty="0">
                <a:solidFill>
                  <a:srgbClr val="1A234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Facturación electrónica con firma digital y CDC por cada documento.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805988" y="8505825"/>
            <a:ext cx="7434114" cy="9525"/>
          </a:xfrm>
          <a:prstGeom prst="rect">
            <a:avLst/>
          </a:prstGeom>
          <a:solidFill>
            <a:srgbClr val="E4E7EE"/>
          </a:solidFill>
          <a:ln/>
        </p:spPr>
      </p:sp>
      <p:sp>
        <p:nvSpPr>
          <p:cNvPr id="18" name="Shape 16"/>
          <p:cNvSpPr/>
          <p:nvPr/>
        </p:nvSpPr>
        <p:spPr>
          <a:xfrm>
            <a:off x="9805988" y="7305675"/>
            <a:ext cx="7434114" cy="9525"/>
          </a:xfrm>
          <a:prstGeom prst="rect">
            <a:avLst/>
          </a:prstGeom>
          <a:solidFill>
            <a:srgbClr val="E4E7EE"/>
          </a:solidFill>
          <a:ln/>
        </p:spPr>
      </p:sp>
      <p:sp>
        <p:nvSpPr>
          <p:cNvPr id="19" name="Text 17"/>
          <p:cNvSpPr/>
          <p:nvPr/>
        </p:nvSpPr>
        <p:spPr>
          <a:xfrm>
            <a:off x="9805988" y="7562850"/>
            <a:ext cx="83820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spc="98" kern="0" dirty="0">
                <a:solidFill>
                  <a:srgbClr val="0B3A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05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0834688" y="7524750"/>
            <a:ext cx="659757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dirty="0">
                <a:solidFill>
                  <a:srgbClr val="1A234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Cuentas por cobrar, compras y despachos de aduana en paralelo.</a:t>
            </a:r>
            <a:endParaRPr lang="en-US" sz="22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7750" y="9467850"/>
            <a:ext cx="304800" cy="3048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524000" y="9520238"/>
            <a:ext cx="14360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-7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Grupo Aconcagua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16540609" y="94964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02 / 06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1066800"/>
            <a:ext cx="400050" cy="19050"/>
          </a:xfrm>
          <a:prstGeom prst="rect">
            <a:avLst/>
          </a:prstGeom>
          <a:solidFill>
            <a:srgbClr val="0B3A8B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19250" y="952500"/>
            <a:ext cx="510343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0B3A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UNA PLATAFORMA, CINCO MÓDULOS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047750" y="1428750"/>
            <a:ext cx="14716125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spc="-108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Toda la cadena operativa, integrada en una sola plataforma.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047750" y="3402211"/>
            <a:ext cx="5219700" cy="6164461"/>
          </a:xfrm>
          <a:prstGeom prst="roundRect">
            <a:avLst>
              <a:gd name="adj" fmla="val 3650"/>
            </a:avLst>
          </a:prstGeom>
          <a:solidFill>
            <a:srgbClr val="0B3A8B"/>
          </a:solidFill>
          <a:ln/>
        </p:spPr>
      </p:sp>
      <p:sp>
        <p:nvSpPr>
          <p:cNvPr id="7" name="Text 5"/>
          <p:cNvSpPr/>
          <p:nvPr/>
        </p:nvSpPr>
        <p:spPr>
          <a:xfrm>
            <a:off x="1514475" y="3945136"/>
            <a:ext cx="44148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64" kern="0" dirty="0">
                <a:solidFill>
                  <a:srgbClr val="FFFFFF">
                    <a:alpha val="7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01 · MÓDULO ESTRELLA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514475" y="4459486"/>
            <a:ext cx="4414838" cy="1211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200" b="1" spc="-42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Comercial (Ventas)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514475" y="5899547"/>
            <a:ext cx="4414838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FFFFFF">
                    <a:alpha val="8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El corazón del sistema: del catálogo al pedido en el punto de venta.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54455" y="7015758"/>
            <a:ext cx="4522470" cy="203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>
                    <a:alpha val="92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App móvil con sincronización offline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>
                    <a:alpha val="92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Circuitos y rutas planificados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>
                    <a:alpha val="92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Tareas en PDV: OSA, vencimientos, fotos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>
                    <a:alpha val="92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Análisis por zona, vendedor y canal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34150" y="3402211"/>
            <a:ext cx="5219700" cy="2948880"/>
          </a:xfrm>
          <a:prstGeom prst="roundRect">
            <a:avLst>
              <a:gd name="adj" fmla="val 6460"/>
            </a:avLst>
          </a:prstGeom>
          <a:solidFill>
            <a:srgbClr val="F4F5F8"/>
          </a:solidFill>
          <a:ln/>
        </p:spPr>
      </p:sp>
      <p:sp>
        <p:nvSpPr>
          <p:cNvPr id="12" name="Text 10"/>
          <p:cNvSpPr/>
          <p:nvPr/>
        </p:nvSpPr>
        <p:spPr>
          <a:xfrm>
            <a:off x="6924675" y="3830836"/>
            <a:ext cx="45718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64" kern="0" dirty="0">
                <a:solidFill>
                  <a:srgbClr val="0B3A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02 · WAREHOUSE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924675" y="4249936"/>
            <a:ext cx="457181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30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Almacenamiento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924675" y="4840486"/>
            <a:ext cx="4571810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234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Múltiples bodegas, stock dual, trazabilidad por lote y vencimiento.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020550" y="3402211"/>
            <a:ext cx="5219700" cy="2948880"/>
          </a:xfrm>
          <a:prstGeom prst="roundRect">
            <a:avLst>
              <a:gd name="adj" fmla="val 6460"/>
            </a:avLst>
          </a:prstGeom>
          <a:solidFill>
            <a:srgbClr val="F4F5F8"/>
          </a:solidFill>
          <a:ln/>
        </p:spPr>
      </p:sp>
      <p:sp>
        <p:nvSpPr>
          <p:cNvPr id="16" name="Text 14"/>
          <p:cNvSpPr/>
          <p:nvPr/>
        </p:nvSpPr>
        <p:spPr>
          <a:xfrm>
            <a:off x="12411075" y="3830836"/>
            <a:ext cx="45718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64" kern="0" dirty="0">
                <a:solidFill>
                  <a:srgbClr val="0B3A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03 · LOGÍSTICA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2411075" y="4249936"/>
            <a:ext cx="457181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30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Distribución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2411075" y="4840486"/>
            <a:ext cx="4571810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234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Hojas de reparto, asignación a camiones y tracking GPS en tiempo real.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534150" y="6617791"/>
            <a:ext cx="5219700" cy="2948880"/>
          </a:xfrm>
          <a:prstGeom prst="roundRect">
            <a:avLst>
              <a:gd name="adj" fmla="val 6460"/>
            </a:avLst>
          </a:prstGeom>
          <a:solidFill>
            <a:srgbClr val="F4F5F8"/>
          </a:solidFill>
          <a:ln/>
        </p:spPr>
      </p:sp>
      <p:sp>
        <p:nvSpPr>
          <p:cNvPr id="20" name="Text 18"/>
          <p:cNvSpPr/>
          <p:nvPr/>
        </p:nvSpPr>
        <p:spPr>
          <a:xfrm>
            <a:off x="6924675" y="7046416"/>
            <a:ext cx="45718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64" kern="0" dirty="0">
                <a:solidFill>
                  <a:srgbClr val="0B3A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04 · FINANZAS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924675" y="7465516"/>
            <a:ext cx="457181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30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Rendiciones &amp; Cobranzas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924675" y="8475166"/>
            <a:ext cx="4571810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234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Cuentas corrientes, recibos, conciliación bancaria y bloqueos por mora.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2020550" y="6617791"/>
            <a:ext cx="5219700" cy="2948880"/>
          </a:xfrm>
          <a:prstGeom prst="roundRect">
            <a:avLst>
              <a:gd name="adj" fmla="val 6460"/>
            </a:avLst>
          </a:prstGeom>
          <a:solidFill>
            <a:srgbClr val="F4F5F8"/>
          </a:solidFill>
          <a:ln/>
        </p:spPr>
      </p:sp>
      <p:sp>
        <p:nvSpPr>
          <p:cNvPr id="24" name="Text 22"/>
          <p:cNvSpPr/>
          <p:nvPr/>
        </p:nvSpPr>
        <p:spPr>
          <a:xfrm>
            <a:off x="12411075" y="7046416"/>
            <a:ext cx="45718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64" kern="0" dirty="0">
                <a:solidFill>
                  <a:srgbClr val="0B3A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05 · IMPORTACIONES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2411075" y="7465516"/>
            <a:ext cx="457181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30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Despachos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2411075" y="8056066"/>
            <a:ext cx="4571810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234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Aduana, aranceles, IVA renta, tasas de cambio y costeo por importación.</a:t>
            </a:r>
            <a:endParaRPr lang="en-US" sz="18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7750" y="9467850"/>
            <a:ext cx="304800" cy="3048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524000" y="9520238"/>
            <a:ext cx="14360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-7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Grupo Aconcagua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16540609" y="94964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03 / 06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1066800"/>
            <a:ext cx="400050" cy="19050"/>
          </a:xfrm>
          <a:prstGeom prst="rect">
            <a:avLst/>
          </a:prstGeom>
          <a:solidFill>
            <a:srgbClr val="0B3A8B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19250" y="952500"/>
            <a:ext cx="427288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0B3A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FOCO — COMERCIAL / VENTAS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047750" y="1428750"/>
            <a:ext cx="14716125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spc="-108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El equipo de ventas en ruta, conectado con el backoffice en tiempo real.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047750" y="3764161"/>
            <a:ext cx="8615525" cy="1851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A234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Una aplicación diseñada para condiciones reales de operación. Permite registrar pedidos, ejecutar tareas en punto de venta y sincronizar la información cuando se restablece la conectividad.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047750" y="6472833"/>
            <a:ext cx="28575" cy="1377255"/>
          </a:xfrm>
          <a:prstGeom prst="rect">
            <a:avLst/>
          </a:prstGeom>
          <a:solidFill>
            <a:srgbClr val="0B3A8B"/>
          </a:solidFill>
          <a:ln/>
        </p:spPr>
      </p:sp>
      <p:sp>
        <p:nvSpPr>
          <p:cNvPr id="8" name="Text 6"/>
          <p:cNvSpPr/>
          <p:nvPr/>
        </p:nvSpPr>
        <p:spPr>
          <a:xfrm>
            <a:off x="1285875" y="6682383"/>
            <a:ext cx="38858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Catálogo y precios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85875" y="7053858"/>
            <a:ext cx="3885823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Por canal, por cliente, con acuerdos negociados.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01419" y="6472833"/>
            <a:ext cx="28575" cy="1377255"/>
          </a:xfrm>
          <a:prstGeom prst="rect">
            <a:avLst/>
          </a:prstGeom>
          <a:solidFill>
            <a:srgbClr val="0B3A8B"/>
          </a:solidFill>
          <a:ln/>
        </p:spPr>
      </p:sp>
      <p:sp>
        <p:nvSpPr>
          <p:cNvPr id="11" name="Text 9"/>
          <p:cNvSpPr/>
          <p:nvPr/>
        </p:nvSpPr>
        <p:spPr>
          <a:xfrm>
            <a:off x="5639544" y="6682383"/>
            <a:ext cx="388597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Circuitos planificados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639544" y="7053858"/>
            <a:ext cx="3885977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Diario, semanal, quincenal, mensual e intercalado.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047750" y="8116788"/>
            <a:ext cx="28575" cy="1377255"/>
          </a:xfrm>
          <a:prstGeom prst="rect">
            <a:avLst/>
          </a:prstGeom>
          <a:solidFill>
            <a:srgbClr val="0B3A8B"/>
          </a:solidFill>
          <a:ln/>
        </p:spPr>
      </p:sp>
      <p:sp>
        <p:nvSpPr>
          <p:cNvPr id="14" name="Text 12"/>
          <p:cNvSpPr/>
          <p:nvPr/>
        </p:nvSpPr>
        <p:spPr>
          <a:xfrm>
            <a:off x="1285875" y="8326338"/>
            <a:ext cx="38858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OSA y vencimientos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85875" y="8697813"/>
            <a:ext cx="3885823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On-shelf availability con foto georreferenciada.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401419" y="8116788"/>
            <a:ext cx="28575" cy="1377255"/>
          </a:xfrm>
          <a:prstGeom prst="rect">
            <a:avLst/>
          </a:prstGeom>
          <a:solidFill>
            <a:srgbClr val="0B3A8B"/>
          </a:solidFill>
          <a:ln/>
        </p:spPr>
      </p:sp>
      <p:sp>
        <p:nvSpPr>
          <p:cNvPr id="17" name="Text 15"/>
          <p:cNvSpPr/>
          <p:nvPr/>
        </p:nvSpPr>
        <p:spPr>
          <a:xfrm>
            <a:off x="5639544" y="8326338"/>
            <a:ext cx="388597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Briefs y comisiones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5639544" y="8697813"/>
            <a:ext cx="3885977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Comparativas de premios y desempeño por vendedor.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0269587" y="3440311"/>
            <a:ext cx="6970663" cy="6053733"/>
          </a:xfrm>
          <a:prstGeom prst="roundRect">
            <a:avLst>
              <a:gd name="adj" fmla="val 3776"/>
            </a:avLst>
          </a:prstGeom>
          <a:solidFill>
            <a:srgbClr val="0A1024"/>
          </a:solidFill>
          <a:ln/>
        </p:spPr>
      </p:sp>
      <p:sp>
        <p:nvSpPr>
          <p:cNvPr id="20" name="Text 18"/>
          <p:cNvSpPr/>
          <p:nvPr/>
        </p:nvSpPr>
        <p:spPr>
          <a:xfrm>
            <a:off x="10688687" y="3897511"/>
            <a:ext cx="631643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FFFFFF">
                    <a:alpha val="5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APP DE VENTAS · IOS / ANDROID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688687" y="5274766"/>
            <a:ext cx="6316437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700" spc="-27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Operativa </a:t>
            </a:r>
            <a:pPr algn="l" indent="0" marL="0">
              <a:lnSpc>
                <a:spcPct val="125000"/>
              </a:lnSpc>
              <a:buNone/>
            </a:pPr>
            <a:r>
              <a:rPr lang="en-US" sz="2700" b="1" spc="-27" kern="0" dirty="0">
                <a:solidFill>
                  <a:srgbClr val="3DD68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aun sin conectividad </a:t>
            </a:r>
            <a:pPr algn="l" indent="0" marL="0">
              <a:lnSpc>
                <a:spcPct val="125000"/>
              </a:lnSpc>
              <a:buNone/>
            </a:pPr>
            <a:r>
              <a:rPr lang="en-US" sz="2700" spc="-27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 zonas remotas. La sincronización se realiza automáticamente al recuperar la señal.</a:t>
            </a:r>
            <a:endParaRPr lang="en-US" sz="2700" dirty="0"/>
          </a:p>
        </p:txBody>
      </p:sp>
      <p:sp>
        <p:nvSpPr>
          <p:cNvPr id="22" name="Shape 20"/>
          <p:cNvSpPr/>
          <p:nvPr/>
        </p:nvSpPr>
        <p:spPr>
          <a:xfrm>
            <a:off x="10688687" y="8147298"/>
            <a:ext cx="6132463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688687" y="8347323"/>
            <a:ext cx="200605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60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100%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0688687" y="8814048"/>
            <a:ext cx="2006054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>
                    <a:alpha val="6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Offline-capable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2789991" y="8347323"/>
            <a:ext cx="200605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60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2789991" y="8814048"/>
            <a:ext cx="2006054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>
                    <a:alpha val="6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Tipos de circuito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4891296" y="8347323"/>
            <a:ext cx="200605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60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GPS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14891296" y="8814048"/>
            <a:ext cx="2006054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>
                    <a:alpha val="6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Geo-tagged tasks</a:t>
            </a:r>
            <a:endParaRPr lang="en-US" sz="135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7750" y="9467850"/>
            <a:ext cx="304800" cy="3048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524000" y="9520238"/>
            <a:ext cx="14360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-7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Grupo Aconcagua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16540609" y="94964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04 / 06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1066800"/>
            <a:ext cx="400050" cy="19050"/>
          </a:xfrm>
          <a:prstGeom prst="rect">
            <a:avLst/>
          </a:prstGeom>
          <a:solidFill>
            <a:srgbClr val="0B3A8B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19250" y="952500"/>
            <a:ext cx="262131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0B3A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POR QUÉ CONFIAR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047750" y="1428750"/>
            <a:ext cx="14716125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spc="-108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 sistema en producción que ya opera un grupo empresarial completo.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047750" y="3440311"/>
            <a:ext cx="3055590" cy="5989439"/>
          </a:xfrm>
          <a:prstGeom prst="roundRect">
            <a:avLst>
              <a:gd name="adj" fmla="val 6234"/>
            </a:avLst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43025" y="3792736"/>
            <a:ext cx="254124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50" b="1" spc="-175" kern="0" dirty="0">
                <a:solidFill>
                  <a:srgbClr val="0B3A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 </a:t>
            </a:r>
            <a:pPr algn="l" indent="0" marL="0">
              <a:lnSpc>
                <a:spcPct val="100000"/>
              </a:lnSpc>
              <a:buNone/>
            </a:pPr>
            <a:r>
              <a:rPr lang="en-US" sz="2700" b="1" spc="-175" kern="0" dirty="0">
                <a:solidFill>
                  <a:srgbClr val="1A234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1343025" y="7980164"/>
            <a:ext cx="254124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spc="-10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Años en producción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43025" y="8277225"/>
            <a:ext cx="254124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Una década de iteración continua sobre operaciones reales.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31940" y="3440311"/>
            <a:ext cx="3055590" cy="5989439"/>
          </a:xfrm>
          <a:prstGeom prst="roundRect">
            <a:avLst>
              <a:gd name="adj" fmla="val 6234"/>
            </a:avLst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7215" y="3792736"/>
            <a:ext cx="254124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50" b="1" spc="-175" kern="0" dirty="0">
                <a:solidFill>
                  <a:srgbClr val="0B3A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</a:t>
            </a:r>
            <a:endParaRPr lang="en-US" sz="5850" dirty="0"/>
          </a:p>
        </p:txBody>
      </p:sp>
      <p:sp>
        <p:nvSpPr>
          <p:cNvPr id="12" name="Text 10"/>
          <p:cNvSpPr/>
          <p:nvPr/>
        </p:nvSpPr>
        <p:spPr>
          <a:xfrm>
            <a:off x="4627215" y="7949803"/>
            <a:ext cx="2541240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spc="-10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Empresas en una sola plataforma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4627215" y="8543925"/>
            <a:ext cx="254124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Aconcagua, DyT, MyS, IBO y CIES bajo el mismo sistema.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616130" y="3440311"/>
            <a:ext cx="3055590" cy="5989439"/>
          </a:xfrm>
          <a:prstGeom prst="roundRect">
            <a:avLst>
              <a:gd name="adj" fmla="val 6234"/>
            </a:avLst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11405" y="3792736"/>
            <a:ext cx="2541240" cy="91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300" b="1" spc="-99" kern="0" dirty="0">
                <a:solidFill>
                  <a:srgbClr val="0B3A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SIFEN nativo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7911405" y="7949803"/>
            <a:ext cx="2541240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spc="-10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Cumplimiento tributario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911405" y="8543925"/>
            <a:ext cx="254124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Firma digital, CDC y KUDE — no es un agregado.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900321" y="3440311"/>
            <a:ext cx="3055590" cy="5989439"/>
          </a:xfrm>
          <a:prstGeom prst="roundRect">
            <a:avLst>
              <a:gd name="adj" fmla="val 6234"/>
            </a:avLst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95596" y="3792736"/>
            <a:ext cx="2541240" cy="91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300" b="1" spc="-99" kern="0" dirty="0">
                <a:solidFill>
                  <a:srgbClr val="0B3A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Tiempo real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11195596" y="8246864"/>
            <a:ext cx="254124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spc="-10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Tracking GPS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1195596" y="8543925"/>
            <a:ext cx="254124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Repartos visibles minuto a minuto vía WebSocket.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4184511" y="3440311"/>
            <a:ext cx="3055590" cy="5989439"/>
          </a:xfrm>
          <a:prstGeom prst="roundRect">
            <a:avLst>
              <a:gd name="adj" fmla="val 6234"/>
            </a:avLst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79786" y="3792736"/>
            <a:ext cx="2541240" cy="91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300" b="1" spc="-99" kern="0" dirty="0">
                <a:solidFill>
                  <a:srgbClr val="0B3A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Auditoría completa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4479786" y="7683103"/>
            <a:ext cx="2541240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spc="-10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Quién y cuándo en cada estado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4479786" y="8277225"/>
            <a:ext cx="254124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Cargado, verificado, aprobado, procesado, anulado.</a:t>
            </a:r>
            <a:endParaRPr lang="en-US" sz="15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7750" y="9467850"/>
            <a:ext cx="304800" cy="3048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524000" y="9520238"/>
            <a:ext cx="14360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-7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Grupo Aconcagua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16540609" y="94964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05 / 06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102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7750" y="952500"/>
            <a:ext cx="609600" cy="60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1123950"/>
            <a:ext cx="203209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9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Grupo Aconcagua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1047750" y="2261295"/>
            <a:ext cx="1143000" cy="57150"/>
          </a:xfrm>
          <a:prstGeom prst="rect">
            <a:avLst/>
          </a:prstGeom>
          <a:solidFill>
            <a:srgbClr val="3DD68C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2661345"/>
            <a:ext cx="16678275" cy="3181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0" b="1" spc="-247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Conversemos sobre su implementación en su organización.</a:t>
            </a:r>
            <a:endParaRPr lang="en-US" sz="8250" dirty="0"/>
          </a:p>
        </p:txBody>
      </p:sp>
      <p:sp>
        <p:nvSpPr>
          <p:cNvPr id="7" name="Text 4"/>
          <p:cNvSpPr/>
          <p:nvPr/>
        </p:nvSpPr>
        <p:spPr>
          <a:xfrm>
            <a:off x="1047750" y="6490395"/>
            <a:ext cx="13735050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FFFFFF">
                    <a:alpha val="78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El sistema está disponible para acompañar a distribuidores que requieren una plataforma probada en operación real.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1047750" y="8458200"/>
            <a:ext cx="1619250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47750" y="8848725"/>
            <a:ext cx="529780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70" kern="0" dirty="0">
                <a:solidFill>
                  <a:srgbClr val="FFFFFF">
                    <a:alpha val="5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SITIO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047750" y="9124950"/>
            <a:ext cx="52978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aconcagua.com.py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6572250" y="8848725"/>
            <a:ext cx="529780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70" kern="0" dirty="0">
                <a:solidFill>
                  <a:srgbClr val="FFFFFF">
                    <a:alpha val="5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CONTACTO COMERCIAL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572250" y="9124950"/>
            <a:ext cx="52978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comercial@aconcagua.com.py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2096750" y="8848725"/>
            <a:ext cx="529780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70" kern="0" dirty="0">
                <a:solidFill>
                  <a:srgbClr val="FFFFFF">
                    <a:alpha val="5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UBICACIÓN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2096750" y="9124950"/>
            <a:ext cx="52978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Asunción · Paraguay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2026-04-29T14:50:08Z</dcterms:created>
  <dcterms:modified xsi:type="dcterms:W3CDTF">2026-04-29T14:50:08Z</dcterms:modified>
</cp:coreProperties>
</file>