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09650" y="8572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1028700"/>
            <a:ext cx="27479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Arquitectura del sistema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609850"/>
            <a:ext cx="16678275" cy="2464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750" b="1" spc="-34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Hecho para </a:t>
            </a:r>
            <a:pPr algn="l" indent="0" marL="0">
              <a:lnSpc>
                <a:spcPct val="98000"/>
              </a:lnSpc>
              <a:buNone/>
            </a:pPr>
            <a:r>
              <a:rPr lang="en-US" sz="9750" b="1" spc="-341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producción </a:t>
            </a:r>
            <a:pPr algn="l" indent="0" marL="0">
              <a:lnSpc>
                <a:spcPct val="98000"/>
              </a:lnSpc>
              <a:buNone/>
            </a:pPr>
            <a:r>
              <a:rPr lang="en-US" sz="9750" b="1" spc="-34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desde el primer día.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1047750" y="5379541"/>
            <a:ext cx="12753975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Stack moderno, monolito modular y patrones probados en una década de operación real. Diseñado para evolucionar sin reescribirse.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47750" y="8620125"/>
            <a:ext cx="16192500" cy="9525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8972550"/>
            <a:ext cx="39046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LENGUAJE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7750" y="9248775"/>
            <a:ext cx="39046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3.13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181600" y="8972550"/>
            <a:ext cx="39046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FRAMEWORK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81600" y="9248775"/>
            <a:ext cx="39046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Django 5.2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15450" y="8972550"/>
            <a:ext cx="39046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BASE DE DATOS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315450" y="9248775"/>
            <a:ext cx="39046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449300" y="8972550"/>
            <a:ext cx="39046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REAL-TIME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49300" y="9248775"/>
            <a:ext cx="39046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 + Celery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400050" cy="19050"/>
          </a:xfrm>
          <a:prstGeom prst="rect">
            <a:avLst/>
          </a:prstGeom>
          <a:solidFill>
            <a:srgbClr val="0B3A8B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857250"/>
            <a:ext cx="32682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STACK EN UNA MIRADA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373505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spc="-102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Tecnología corriente, elegida para durar.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047750" y="2489746"/>
            <a:ext cx="3876675" cy="7035254"/>
          </a:xfrm>
          <a:prstGeom prst="roundRect">
            <a:avLst>
              <a:gd name="adj" fmla="val 4423"/>
            </a:avLst>
          </a:prstGeom>
          <a:solidFill>
            <a:srgbClr val="F4F5F8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2794546"/>
            <a:ext cx="34043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33500" y="3127921"/>
            <a:ext cx="34043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Python 3.13 · Django 5.2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3666083"/>
            <a:ext cx="40198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ORM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773585" y="3647033"/>
            <a:ext cx="2690598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Django ORM, multi-DB router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333500" y="4031307"/>
            <a:ext cx="510629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ASGI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882229" y="4012257"/>
            <a:ext cx="2016919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Daphne + Channels 4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333500" y="4396532"/>
            <a:ext cx="510629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WSGI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882229" y="4377482"/>
            <a:ext cx="720923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uWSGI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333500" y="4761756"/>
            <a:ext cx="619274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990874" y="4742706"/>
            <a:ext cx="2116336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Celery 5.5 + RabbitMQ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333500" y="5126980"/>
            <a:ext cx="619274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Cache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990874" y="5107930"/>
            <a:ext cx="199935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Redis (3 DBs lógicas)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333500" y="5492204"/>
            <a:ext cx="510629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882229" y="5473154"/>
            <a:ext cx="259452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django-auth + simple-history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5153025" y="2489746"/>
            <a:ext cx="3876675" cy="7035254"/>
          </a:xfrm>
          <a:prstGeom prst="roundRect">
            <a:avLst>
              <a:gd name="adj" fmla="val 4423"/>
            </a:avLst>
          </a:prstGeom>
          <a:solidFill>
            <a:srgbClr val="F4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5438775" y="2794546"/>
            <a:ext cx="34043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DATOS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38775" y="3127921"/>
            <a:ext cx="34043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PostgreSQL · 9 DBs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5438775" y="3666083"/>
            <a:ext cx="510629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987504" y="3647033"/>
            <a:ext cx="1955155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rkfbits — operacional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438775" y="4031307"/>
            <a:ext cx="293489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770364" y="4012257"/>
            <a:ext cx="2233464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acosales, manag_cubes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438775" y="4396532"/>
            <a:ext cx="619274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6096149" y="4377482"/>
            <a:ext cx="2727235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mysbits, ibopebits, ciesbits, wardbits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5438775" y="5031730"/>
            <a:ext cx="40198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gps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5878860" y="5012680"/>
            <a:ext cx="1210419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tracking_gps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438775" y="5396954"/>
            <a:ext cx="72777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legacy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6204645" y="5377904"/>
            <a:ext cx="2615505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HyperFileSQL (WinDev / Clarion)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5438775" y="6032153"/>
            <a:ext cx="40198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5878860" y="6013103"/>
            <a:ext cx="720923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rtdcbits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9258300" y="2489746"/>
            <a:ext cx="3876675" cy="3403253"/>
          </a:xfrm>
          <a:prstGeom prst="roundRect">
            <a:avLst>
              <a:gd name="adj" fmla="val 5038"/>
            </a:avLst>
          </a:prstGeom>
          <a:solidFill>
            <a:srgbClr val="F4F5F8"/>
          </a:solidFill>
          <a:ln/>
        </p:spPr>
      </p:sp>
      <p:sp>
        <p:nvSpPr>
          <p:cNvPr id="37" name="Text 35"/>
          <p:cNvSpPr/>
          <p:nvPr/>
        </p:nvSpPr>
        <p:spPr>
          <a:xfrm>
            <a:off x="9544050" y="2794546"/>
            <a:ext cx="34043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544050" y="3127921"/>
            <a:ext cx="340433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Server-rendered + jQuery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9544050" y="3975646"/>
            <a:ext cx="236607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Bootstrap 5 · crispy-forms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9544050" y="4340870"/>
            <a:ext cx="340433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paramquery (pqGrid) — patrón semodel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9544050" y="4976068"/>
            <a:ext cx="2687226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Select2 · axios · WebSockets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13363575" y="2489746"/>
            <a:ext cx="3876675" cy="3403253"/>
          </a:xfrm>
          <a:prstGeom prst="roundRect">
            <a:avLst>
              <a:gd name="adj" fmla="val 5038"/>
            </a:avLst>
          </a:prstGeom>
          <a:solidFill>
            <a:srgbClr val="F4F5F8"/>
          </a:solidFill>
          <a:ln/>
        </p:spPr>
      </p:sp>
      <p:sp>
        <p:nvSpPr>
          <p:cNvPr id="43" name="Text 41"/>
          <p:cNvSpPr/>
          <p:nvPr/>
        </p:nvSpPr>
        <p:spPr>
          <a:xfrm>
            <a:off x="13649325" y="2794546"/>
            <a:ext cx="34043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MOBILE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3649325" y="3127921"/>
            <a:ext cx="34043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Apps nativas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13649325" y="3647033"/>
            <a:ext cx="2540496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HTTP propia (api_user)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3649325" y="4012257"/>
            <a:ext cx="1951732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Sync offline → online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3649325" y="4377482"/>
            <a:ext cx="3034894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Push: Firebase Cloud Messaging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9258300" y="6121598"/>
            <a:ext cx="3876675" cy="3403402"/>
          </a:xfrm>
          <a:prstGeom prst="roundRect">
            <a:avLst>
              <a:gd name="adj" fmla="val 5038"/>
            </a:avLst>
          </a:prstGeom>
          <a:solidFill>
            <a:srgbClr val="F4F5F8"/>
          </a:solidFill>
          <a:ln/>
        </p:spPr>
      </p:sp>
      <p:sp>
        <p:nvSpPr>
          <p:cNvPr id="49" name="Text 47"/>
          <p:cNvSpPr/>
          <p:nvPr/>
        </p:nvSpPr>
        <p:spPr>
          <a:xfrm>
            <a:off x="9544050" y="6426398"/>
            <a:ext cx="34043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INTEGRACIONES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9544050" y="6759773"/>
            <a:ext cx="34043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SIFEN · Bancos · BI</a:t>
            </a:r>
            <a:endParaRPr lang="en-US" sz="2250" dirty="0"/>
          </a:p>
        </p:txBody>
      </p:sp>
      <p:sp>
        <p:nvSpPr>
          <p:cNvPr id="51" name="Text 49"/>
          <p:cNvSpPr/>
          <p:nvPr/>
        </p:nvSpPr>
        <p:spPr>
          <a:xfrm>
            <a:off x="9544050" y="7278886"/>
            <a:ext cx="340433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Facturación electrónica SIFEN (SOAP)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9544050" y="7914084"/>
            <a:ext cx="2555825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Apache Superset / cubos BI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9544050" y="8279309"/>
            <a:ext cx="224016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SFTP (paramiko, pysftp)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13363575" y="6121598"/>
            <a:ext cx="3876675" cy="3403402"/>
          </a:xfrm>
          <a:prstGeom prst="roundRect">
            <a:avLst>
              <a:gd name="adj" fmla="val 5038"/>
            </a:avLst>
          </a:prstGeom>
          <a:solidFill>
            <a:srgbClr val="F4F5F8"/>
          </a:solidFill>
          <a:ln/>
        </p:spPr>
      </p:sp>
      <p:sp>
        <p:nvSpPr>
          <p:cNvPr id="55" name="Text 53"/>
          <p:cNvSpPr/>
          <p:nvPr/>
        </p:nvSpPr>
        <p:spPr>
          <a:xfrm>
            <a:off x="13649325" y="6426398"/>
            <a:ext cx="34043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SALIDAS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3649325" y="6759773"/>
            <a:ext cx="34043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Documentos &amp; reportes</a:t>
            </a:r>
            <a:endParaRPr lang="en-US" sz="2250" dirty="0"/>
          </a:p>
        </p:txBody>
      </p:sp>
      <p:sp>
        <p:nvSpPr>
          <p:cNvPr id="57" name="Text 55"/>
          <p:cNvSpPr/>
          <p:nvPr/>
        </p:nvSpPr>
        <p:spPr>
          <a:xfrm>
            <a:off x="13649325" y="7278886"/>
            <a:ext cx="2489002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openpyxl · pandas · numpy</a:t>
            </a:r>
            <a:endParaRPr lang="en-US" sz="1575" dirty="0"/>
          </a:p>
        </p:txBody>
      </p:sp>
      <p:sp>
        <p:nvSpPr>
          <p:cNvPr id="58" name="Text 56"/>
          <p:cNvSpPr/>
          <p:nvPr/>
        </p:nvSpPr>
        <p:spPr>
          <a:xfrm>
            <a:off x="13649325" y="7644110"/>
            <a:ext cx="244390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reportlab — PDFs y KUDE</a:t>
            </a:r>
            <a:endParaRPr lang="en-US" sz="1575" dirty="0"/>
          </a:p>
        </p:txBody>
      </p:sp>
      <p:sp>
        <p:nvSpPr>
          <p:cNvPr id="59" name="Text 57"/>
          <p:cNvSpPr/>
          <p:nvPr/>
        </p:nvSpPr>
        <p:spPr>
          <a:xfrm>
            <a:off x="13649325" y="8009334"/>
            <a:ext cx="226605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arrow · Decimal explícito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1009650" y="95059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543050" y="9544050"/>
            <a:ext cx="13360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 System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6540609" y="9544050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/ 07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400050" cy="19050"/>
          </a:xfrm>
          <a:prstGeom prst="rect">
            <a:avLst/>
          </a:prstGeom>
          <a:solidFill>
            <a:srgbClr val="0B3A8B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857250"/>
            <a:ext cx="428469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ARQUITECTURA SIMPLIFICADA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3735050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spc="-102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 monolito modular, dos caminos: HTTP síncrono y WebSocket en paralelo.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047750" y="3131641"/>
            <a:ext cx="5257800" cy="158115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925" y="3495973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CLIENTES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4925" y="3743623"/>
            <a:ext cx="48857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Apps móviles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04925" y="4116884"/>
            <a:ext cx="4885754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Vendedores, choferes, repositoras · sync offline · FCM push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15100" y="3131641"/>
            <a:ext cx="5257800" cy="158115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72275" y="3495973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CLIENTES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72275" y="3743623"/>
            <a:ext cx="48857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Backoffice web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772275" y="4116884"/>
            <a:ext cx="4885754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Bootstrap 5 + jQuery · pqGrid · WebSockets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982450" y="3131641"/>
            <a:ext cx="5257800" cy="158115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39625" y="3495973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EXTERNOS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239625" y="3743623"/>
            <a:ext cx="48857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SIFEN · WhatsApp · Bancos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239625" y="4116884"/>
            <a:ext cx="4885754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SOAP · webhooks · SFTP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34475" y="4922341"/>
            <a:ext cx="19050" cy="228600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" y="5360491"/>
            <a:ext cx="16192500" cy="1581150"/>
          </a:xfrm>
          <a:prstGeom prst="roundRect">
            <a:avLst>
              <a:gd name="adj" fmla="val 8434"/>
            </a:avLst>
          </a:prstGeom>
          <a:solidFill>
            <a:srgbClr val="0A1024"/>
          </a:solidFill>
          <a:ln w="9525">
            <a:solidFill>
              <a:srgbClr val="0A10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4925" y="5724823"/>
            <a:ext cx="161484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FFFFFF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04925" y="5972473"/>
            <a:ext cx="1614849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Nginx + TLS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04925" y="6345734"/>
            <a:ext cx="16148495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HTTPS · WebSocket upgrade · multiplexing a uWSGI / Daphne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34475" y="7151191"/>
            <a:ext cx="19050" cy="228600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7589341"/>
            <a:ext cx="7991475" cy="1581150"/>
          </a:xfrm>
          <a:prstGeom prst="roundRect">
            <a:avLst>
              <a:gd name="adj" fmla="val 8434"/>
            </a:avLst>
          </a:prstGeom>
          <a:solidFill>
            <a:srgbClr val="0B3A8B"/>
          </a:solidFill>
          <a:ln w="9525">
            <a:solidFill>
              <a:srgbClr val="0B3A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4925" y="7953673"/>
            <a:ext cx="77014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WSGI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04925" y="8201323"/>
            <a:ext cx="770143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uWSGI · Django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04925" y="8574584"/>
            <a:ext cx="7701439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Endpoints dinámicos em / execute_module / operation_record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248775" y="7589341"/>
            <a:ext cx="7991475" cy="1581150"/>
          </a:xfrm>
          <a:prstGeom prst="roundRect">
            <a:avLst>
              <a:gd name="adj" fmla="val 8434"/>
            </a:avLst>
          </a:prstGeom>
          <a:solidFill>
            <a:srgbClr val="0B3A8B"/>
          </a:solidFill>
          <a:ln w="9525">
            <a:solidFill>
              <a:srgbClr val="0B3A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5950" y="7953673"/>
            <a:ext cx="77014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ASGI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5950" y="8201323"/>
            <a:ext cx="770143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Daphne · Channels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505950" y="8574584"/>
            <a:ext cx="7701439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WebSocket consumers · channels_redis layer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134475" y="9380041"/>
            <a:ext cx="19050" cy="228600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7750" y="9818191"/>
            <a:ext cx="5422106" cy="158115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04925" y="10182523"/>
            <a:ext cx="50549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STORAGE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04925" y="10430173"/>
            <a:ext cx="50549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PostgreSQL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304925" y="10803434"/>
            <a:ext cx="5054989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bases — operacional, BI, multi-empresa, GPS, legacy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679406" y="9818191"/>
            <a:ext cx="5422106" cy="158115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6581" y="10182523"/>
            <a:ext cx="50549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CACHE / BUS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36581" y="10430173"/>
            <a:ext cx="505498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Redis · RabbitMQ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6936581" y="10803434"/>
            <a:ext cx="5054989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cache · channels · broker · result backend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2311063" y="9818191"/>
            <a:ext cx="4929188" cy="158115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568238" y="10182523"/>
            <a:ext cx="45472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WORKERS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568238" y="10430173"/>
            <a:ext cx="454728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Celery + beat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2568238" y="10803434"/>
            <a:ext cx="4547283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Cubos, fillrate, SIFEN async, push, batch nocturno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09650" y="95059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543050" y="9544050"/>
            <a:ext cx="13360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 System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6540609" y="9544050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/ 07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400050" cy="19050"/>
          </a:xfrm>
          <a:prstGeom prst="rect">
            <a:avLst/>
          </a:prstGeom>
          <a:solidFill>
            <a:srgbClr val="0B3A8B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857250"/>
            <a:ext cx="37009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PATRONES DE INGENIERÍA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471612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spc="-102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Decisiones de diseño que mantienen el código predecible a escala.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047750" y="3131641"/>
            <a:ext cx="7934325" cy="3741241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0175" y="3517404"/>
            <a:ext cx="4106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67942" y="3465016"/>
            <a:ext cx="294828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Endpoints dinámicos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00175" y="3941266"/>
            <a:ext cx="7446359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 frontend no llama URLs específicas. Despacha a un dispatcher universal que importa el módulo, instancia la clase y ejecuta el método indicado.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400175" y="4653558"/>
            <a:ext cx="7229475" cy="1885950"/>
          </a:xfrm>
          <a:prstGeom prst="roundRect">
            <a:avLst>
              <a:gd name="adj" fmla="val 5051"/>
            </a:avLst>
          </a:prstGeom>
          <a:solidFill>
            <a:srgbClr val="0A1024"/>
          </a:solidFill>
          <a:ln/>
        </p:spPr>
      </p:sp>
      <p:sp>
        <p:nvSpPr>
          <p:cNvPr id="11" name="Text 9"/>
          <p:cNvSpPr/>
          <p:nvPr/>
        </p:nvSpPr>
        <p:spPr>
          <a:xfrm>
            <a:off x="1609725" y="4825008"/>
            <a:ext cx="7027259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7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POST /em/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highlight>
                  <a:srgbClr val="0A10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=sales_man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package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highlight>
                  <a:srgbClr val="0A10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=sales_control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attr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highlight>
                  <a:srgbClr val="0A10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=SalesControl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mname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highlight>
                  <a:srgbClr val="0A10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=export_rutero_input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7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DExecution.execute_module(...)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05925" y="3131641"/>
            <a:ext cx="7934325" cy="3741241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8350" y="3517404"/>
            <a:ext cx="4106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126117" y="3465016"/>
            <a:ext cx="42569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Auditoría in-row estandarizada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58350" y="3941266"/>
            <a:ext cx="7446359" cy="877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Cada modelo transaccional lleva los mismos campos de estado: quién lo cargó, verificó, aprobó, procesó o anuló — y cuándo. Reemplaza el soft-delete formal y deja trazabilidad completa.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658350" y="4933504"/>
            <a:ext cx="7229475" cy="1371600"/>
          </a:xfrm>
          <a:prstGeom prst="roundRect">
            <a:avLst>
              <a:gd name="adj" fmla="val 6944"/>
            </a:avLst>
          </a:prstGeom>
          <a:solidFill>
            <a:srgbClr val="0A1024"/>
          </a:solidFill>
          <a:ln/>
        </p:spPr>
      </p:sp>
      <p:sp>
        <p:nvSpPr>
          <p:cNvPr id="17" name="Text 15"/>
          <p:cNvSpPr/>
          <p:nvPr/>
        </p:nvSpPr>
        <p:spPr>
          <a:xfrm>
            <a:off x="9867900" y="5104954"/>
            <a:ext cx="702725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cargado_010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highlight>
                  <a:srgbClr val="0A10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verificado_045 aprobado_050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highlight>
                  <a:srgbClr val="0A10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procesado_060 anulado_040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7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+ *_por_gecos / _fecha / _hora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47750" y="7196733"/>
            <a:ext cx="7934325" cy="7516862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0175" y="7582495"/>
            <a:ext cx="4106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67942" y="7530108"/>
            <a:ext cx="33010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Multi-database explícito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00175" y="8006358"/>
            <a:ext cx="7446359" cy="877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 routers automáticos: cada query usa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.using('acosales')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 la DB que corresponda. Módulos enteros (stats, GPS, RTDC) escriben a bases dedicadas. Aislamiento real por empresa del grupo.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400175" y="8998595"/>
            <a:ext cx="7229475" cy="5381625"/>
          </a:xfrm>
          <a:prstGeom prst="roundRect">
            <a:avLst>
              <a:gd name="adj" fmla="val 1770"/>
            </a:avLst>
          </a:prstGeom>
          <a:solidFill>
            <a:srgbClr val="0A1024"/>
          </a:solidFill>
          <a:ln/>
        </p:spPr>
      </p:sp>
      <p:sp>
        <p:nvSpPr>
          <p:cNvPr id="23" name="Text 21"/>
          <p:cNvSpPr/>
          <p:nvPr/>
        </p:nvSpPr>
        <p:spPr>
          <a:xfrm>
            <a:off x="1609725" y="9189095"/>
            <a:ext cx="15164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Model.objects.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049935" y="9189095"/>
            <a:ext cx="590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64285" y="9189095"/>
            <a:ext cx="1791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609725" y="9427220"/>
            <a:ext cx="6810375" cy="5038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657475" y="10284470"/>
            <a:ext cx="4919186" cy="3457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DD6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'acosales'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09725" y="14484995"/>
            <a:ext cx="1791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021086" y="14742170"/>
            <a:ext cx="21337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.filter(anulado_040=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078635" y="14742170"/>
            <a:ext cx="590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92985" y="14742170"/>
            <a:ext cx="1791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021086" y="14999345"/>
            <a:ext cx="17222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.select_related(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609725" y="15237470"/>
            <a:ext cx="6810375" cy="5038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657475" y="16094720"/>
            <a:ext cx="4919186" cy="3457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DD6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'cliente'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609725" y="20295245"/>
            <a:ext cx="1791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305925" y="7196733"/>
            <a:ext cx="7934325" cy="7516862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58350" y="7582495"/>
            <a:ext cx="4106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/04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0126117" y="7530108"/>
            <a:ext cx="33506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1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 try/except defensivo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9658350" y="8006358"/>
            <a:ext cx="7446359" cy="877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Los métodos invocados vía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están envueltos por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@track_error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 Las excepciones llegan a Sentry y se traducen al frontend automáticamente — el código de negocio se queda limpio.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9658350" y="8998595"/>
            <a:ext cx="7229475" cy="3505200"/>
          </a:xfrm>
          <a:prstGeom prst="roundRect">
            <a:avLst>
              <a:gd name="adj" fmla="val 2717"/>
            </a:avLst>
          </a:prstGeom>
          <a:solidFill>
            <a:srgbClr val="0A1024"/>
          </a:solidFill>
          <a:ln/>
        </p:spPr>
      </p:sp>
      <p:sp>
        <p:nvSpPr>
          <p:cNvPr id="41" name="Text 39"/>
          <p:cNvSpPr/>
          <p:nvPr/>
        </p:nvSpPr>
        <p:spPr>
          <a:xfrm>
            <a:off x="9867900" y="9189095"/>
            <a:ext cx="13107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@track_error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867900" y="9446270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279410" y="9446270"/>
            <a:ext cx="21337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export_rutero_input(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2336959" y="9446270"/>
            <a:ext cx="4877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2748468" y="9446270"/>
            <a:ext cx="15164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query_dict):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0279410" y="9703445"/>
            <a:ext cx="33906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7A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lógica de dominio, sin guardas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0279410" y="9960620"/>
            <a:ext cx="6935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0999589" y="9960620"/>
            <a:ext cx="1791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9867900" y="10198745"/>
            <a:ext cx="6810375" cy="3162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10915650" y="11055995"/>
            <a:ext cx="4919186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DD6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'ok'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867900" y="13380095"/>
            <a:ext cx="1791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0073729" y="13380095"/>
            <a:ext cx="4877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9E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0485239" y="13380095"/>
            <a:ext cx="6935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E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...}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009650" y="95059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543050" y="9544050"/>
            <a:ext cx="13360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 System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6540609" y="9544050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/ 07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400050" cy="19050"/>
          </a:xfrm>
          <a:prstGeom prst="rect">
            <a:avLst/>
          </a:prstGeom>
          <a:solidFill>
            <a:srgbClr val="0B3A8B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857250"/>
            <a:ext cx="554338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TIEMPO REAL, ASYNC Y CUMPLIMIENTO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471612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spc="-102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Tres capacidades transversales que el sistema resuelve nativamente.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047750" y="3150691"/>
            <a:ext cx="5232350" cy="6374309"/>
          </a:xfrm>
          <a:prstGeom prst="roundRect">
            <a:avLst>
              <a:gd name="adj" fmla="val 3641"/>
            </a:avLst>
          </a:prstGeom>
          <a:solidFill>
            <a:srgbClr val="F4F5F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93591"/>
            <a:ext cx="47221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/01 · REAL-TIME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3884116"/>
            <a:ext cx="472219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Channels sobre Daphne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4390727"/>
            <a:ext cx="4722190" cy="877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Tracking GPS de choferes, notificaciones a backoffice, estado de bloques de carga en bodega. Layer Redis con soporte multi-instancia.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371600" y="5459164"/>
            <a:ext cx="1344960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95425" y="5525839"/>
            <a:ext cx="11735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 4.x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92760" y="5459164"/>
            <a:ext cx="1527870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585" y="5525839"/>
            <a:ext cx="13564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channels_redis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96829" y="5459164"/>
            <a:ext cx="796379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0654" y="5525839"/>
            <a:ext cx="6249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daphne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27750" y="3150691"/>
            <a:ext cx="5232350" cy="6374309"/>
          </a:xfrm>
          <a:prstGeom prst="roundRect">
            <a:avLst>
              <a:gd name="adj" fmla="val 3641"/>
            </a:avLst>
          </a:prstGeom>
          <a:solidFill>
            <a:srgbClr val="F4F5F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1600" y="3493591"/>
            <a:ext cx="47221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/02 · ASYNC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1600" y="3884116"/>
            <a:ext cx="472219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Celery + beat + cron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1600" y="4390727"/>
            <a:ext cx="4722190" cy="877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Cubos pre-generados nocturnos, fillrate de 5 años, SIFEN asíncrono, push notifications. Throttle de paralelismo con bash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wait -n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6851600" y="5459164"/>
            <a:ext cx="1162199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5425" y="5525839"/>
            <a:ext cx="9907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celery 5.5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9999" y="5459164"/>
            <a:ext cx="979289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3824" y="5525839"/>
            <a:ext cx="807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RabbitMQ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5488" y="5459164"/>
            <a:ext cx="2167979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69313" y="5525839"/>
            <a:ext cx="1996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django-celery-results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007751" y="3150691"/>
            <a:ext cx="5232350" cy="6374309"/>
          </a:xfrm>
          <a:prstGeom prst="roundRect">
            <a:avLst>
              <a:gd name="adj" fmla="val 3641"/>
            </a:avLst>
          </a:prstGeom>
          <a:solidFill>
            <a:srgbClr val="F4F5F8"/>
          </a:solidFill>
          <a:ln/>
        </p:spPr>
      </p:sp>
      <p:sp>
        <p:nvSpPr>
          <p:cNvPr id="27" name="Text 25"/>
          <p:cNvSpPr/>
          <p:nvPr/>
        </p:nvSpPr>
        <p:spPr>
          <a:xfrm>
            <a:off x="12331601" y="3493591"/>
            <a:ext cx="47221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/03 · COMPLIANCE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331601" y="3884116"/>
            <a:ext cx="472219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SIFEN nativo (etrans)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331601" y="4390727"/>
            <a:ext cx="4722190" cy="877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A23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Generación de XML, cálculo de CDC, firma con certificado digital, envío SOAP a la SET, KUDE para el cliente final y cola de reintentos.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331601" y="5459164"/>
            <a:ext cx="1162199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55426" y="5525839"/>
            <a:ext cx="9907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XML schema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570000" y="5459164"/>
            <a:ext cx="1436489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93825" y="5525839"/>
            <a:ext cx="12650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cert. digital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082689" y="5459164"/>
            <a:ext cx="613470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206514" y="5525839"/>
            <a:ext cx="4420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SOAP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5772358" y="5459164"/>
            <a:ext cx="979289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896183" y="5525839"/>
            <a:ext cx="807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KUDE PDF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9650" y="95059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543050" y="9544050"/>
            <a:ext cx="13360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 System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6540609" y="9544050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/ 07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400050" cy="19050"/>
          </a:xfrm>
          <a:prstGeom prst="rect">
            <a:avLst/>
          </a:prstGeom>
          <a:solidFill>
            <a:srgbClr val="0B3A8B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857250"/>
            <a:ext cx="363534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B3A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NÚMEROS DEL PROYECTO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14716125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spc="-102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Escala real — no benchmarks de laboratorio.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047750" y="2451646"/>
            <a:ext cx="3705671" cy="7073354"/>
          </a:xfrm>
          <a:prstGeom prst="roundRect">
            <a:avLst>
              <a:gd name="adj" fmla="val 5141"/>
            </a:avLst>
          </a:prstGeom>
          <a:solidFill>
            <a:srgbClr val="0B3A8B"/>
          </a:solidFill>
          <a:ln/>
        </p:spPr>
      </p:sp>
      <p:sp>
        <p:nvSpPr>
          <p:cNvPr id="7" name="Text 5"/>
          <p:cNvSpPr/>
          <p:nvPr/>
        </p:nvSpPr>
        <p:spPr>
          <a:xfrm>
            <a:off x="1466850" y="2908846"/>
            <a:ext cx="295349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0" b="1" spc="-35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spc="-35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10200" dirty="0"/>
          </a:p>
        </p:txBody>
      </p:sp>
      <p:sp>
        <p:nvSpPr>
          <p:cNvPr id="8" name="Text 6"/>
          <p:cNvSpPr/>
          <p:nvPr/>
        </p:nvSpPr>
        <p:spPr>
          <a:xfrm>
            <a:off x="1466850" y="4375696"/>
            <a:ext cx="2953496" cy="113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Años en producción continua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6850" y="7894439"/>
            <a:ext cx="2953496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Una década de iteración sobre operaciones reales de cinco empresas, con desarrollo activo en branch develop.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962971" y="2451646"/>
            <a:ext cx="3705671" cy="3431828"/>
          </a:xfrm>
          <a:prstGeom prst="roundRect">
            <a:avLst>
              <a:gd name="adj" fmla="val 5551"/>
            </a:avLst>
          </a:prstGeom>
          <a:solidFill>
            <a:srgbClr val="0A1024"/>
          </a:solidFill>
          <a:ln/>
        </p:spPr>
      </p:sp>
      <p:sp>
        <p:nvSpPr>
          <p:cNvPr id="11" name="Text 9"/>
          <p:cNvSpPr/>
          <p:nvPr/>
        </p:nvSpPr>
        <p:spPr>
          <a:xfrm>
            <a:off x="5286821" y="2794546"/>
            <a:ext cx="314971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24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60K </a:t>
            </a:r>
            <a:pPr algn="l" indent="0" marL="0">
              <a:lnSpc>
                <a:spcPct val="100000"/>
              </a:lnSpc>
              <a:buNone/>
            </a:pPr>
            <a:r>
              <a:rPr lang="en-US" sz="2850" b="1" spc="-24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6900" dirty="0"/>
          </a:p>
        </p:txBody>
      </p:sp>
      <p:sp>
        <p:nvSpPr>
          <p:cNvPr id="12" name="Text 10"/>
          <p:cNvSpPr/>
          <p:nvPr/>
        </p:nvSpPr>
        <p:spPr>
          <a:xfrm>
            <a:off x="5286821" y="5026372"/>
            <a:ext cx="314971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Líneas de Python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86821" y="5300663"/>
            <a:ext cx="3149711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Monolito modular con apps por dominio.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878193" y="2451646"/>
            <a:ext cx="3705671" cy="3431828"/>
          </a:xfrm>
          <a:prstGeom prst="roundRect">
            <a:avLst>
              <a:gd name="adj" fmla="val 5551"/>
            </a:avLst>
          </a:prstGeom>
          <a:solidFill>
            <a:srgbClr val="F4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9202043" y="2794546"/>
            <a:ext cx="314971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24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16</a:t>
            </a:r>
            <a:endParaRPr lang="en-US" sz="6900" dirty="0"/>
          </a:p>
        </p:txBody>
      </p:sp>
      <p:sp>
        <p:nvSpPr>
          <p:cNvPr id="16" name="Text 14"/>
          <p:cNvSpPr/>
          <p:nvPr/>
        </p:nvSpPr>
        <p:spPr>
          <a:xfrm>
            <a:off x="9202043" y="5026372"/>
            <a:ext cx="314971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Apps Django de negocio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02043" y="5300663"/>
            <a:ext cx="3149711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Una por área funcional + utilitarios.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793414" y="2451646"/>
            <a:ext cx="4446836" cy="3431828"/>
          </a:xfrm>
          <a:prstGeom prst="roundRect">
            <a:avLst>
              <a:gd name="adj" fmla="val 5551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13117264" y="2794546"/>
            <a:ext cx="391311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24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372</a:t>
            </a:r>
            <a:endParaRPr lang="en-US" sz="6900" dirty="0"/>
          </a:p>
        </p:txBody>
      </p:sp>
      <p:sp>
        <p:nvSpPr>
          <p:cNvPr id="20" name="Text 18"/>
          <p:cNvSpPr/>
          <p:nvPr/>
        </p:nvSpPr>
        <p:spPr>
          <a:xfrm>
            <a:off x="13117264" y="5026372"/>
            <a:ext cx="391311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Paquetes Python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117264" y="5300663"/>
            <a:ext cx="391311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Stack maduro y curado en requirements.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62971" y="6093023"/>
            <a:ext cx="3705671" cy="3431977"/>
          </a:xfrm>
          <a:prstGeom prst="roundRect">
            <a:avLst>
              <a:gd name="adj" fmla="val 5551"/>
            </a:avLst>
          </a:prstGeom>
          <a:solidFill>
            <a:srgbClr val="0A1024"/>
          </a:solidFill>
          <a:ln/>
        </p:spPr>
      </p:sp>
      <p:sp>
        <p:nvSpPr>
          <p:cNvPr id="23" name="Text 21"/>
          <p:cNvSpPr/>
          <p:nvPr/>
        </p:nvSpPr>
        <p:spPr>
          <a:xfrm>
            <a:off x="5286821" y="6435923"/>
            <a:ext cx="314971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24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</a:t>
            </a:r>
            <a:endParaRPr lang="en-US" sz="6900" dirty="0"/>
          </a:p>
        </p:txBody>
      </p:sp>
      <p:sp>
        <p:nvSpPr>
          <p:cNvPr id="24" name="Text 22"/>
          <p:cNvSpPr/>
          <p:nvPr/>
        </p:nvSpPr>
        <p:spPr>
          <a:xfrm>
            <a:off x="5286821" y="8427988"/>
            <a:ext cx="314971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Bases PostgreSQL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86821" y="8702278"/>
            <a:ext cx="3149711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Operacional, BI, multi-empresa y legacy.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878193" y="6093023"/>
            <a:ext cx="3705671" cy="3431977"/>
          </a:xfrm>
          <a:prstGeom prst="roundRect">
            <a:avLst>
              <a:gd name="adj" fmla="val 5551"/>
            </a:avLst>
          </a:prstGeom>
          <a:solidFill>
            <a:srgbClr val="F4F5F8"/>
          </a:solidFill>
          <a:ln/>
        </p:spPr>
      </p:sp>
      <p:sp>
        <p:nvSpPr>
          <p:cNvPr id="27" name="Text 25"/>
          <p:cNvSpPr/>
          <p:nvPr/>
        </p:nvSpPr>
        <p:spPr>
          <a:xfrm>
            <a:off x="9202043" y="6435923"/>
            <a:ext cx="314971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241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6900" dirty="0"/>
          </a:p>
        </p:txBody>
      </p:sp>
      <p:sp>
        <p:nvSpPr>
          <p:cNvPr id="28" name="Text 26"/>
          <p:cNvSpPr/>
          <p:nvPr/>
        </p:nvSpPr>
        <p:spPr>
          <a:xfrm>
            <a:off x="9202043" y="8667899"/>
            <a:ext cx="314971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Empresas operadas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02043" y="8942189"/>
            <a:ext cx="3149711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Aconcagua, DyT, MyS, IBO, CIES.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09650" y="95059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43050" y="9544050"/>
            <a:ext cx="13360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RKF System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540609" y="9544050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6B73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/ 07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102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857250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028700"/>
            <a:ext cx="20492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Grupo Aconcagua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47750" y="2339429"/>
            <a:ext cx="1143000" cy="57150"/>
          </a:xfrm>
          <a:prstGeom prst="rect">
            <a:avLst/>
          </a:prstGeom>
          <a:solidFill>
            <a:srgbClr val="3DD68C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739479"/>
            <a:ext cx="16678275" cy="312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spc="-24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Hablemos de cómo se integra.</a:t>
            </a:r>
            <a:endParaRPr lang="en-US" sz="8100" dirty="0"/>
          </a:p>
        </p:txBody>
      </p:sp>
      <p:sp>
        <p:nvSpPr>
          <p:cNvPr id="7" name="Text 4"/>
          <p:cNvSpPr/>
          <p:nvPr/>
        </p:nvSpPr>
        <p:spPr>
          <a:xfrm>
            <a:off x="1047750" y="6492329"/>
            <a:ext cx="14716125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APIs, WebSockets, multi-DB, jobs async y cumplimiento tributario — disponibles para evaluación técnica detallada.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1047750" y="8562975"/>
            <a:ext cx="16192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8953500"/>
            <a:ext cx="52978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 CONTACT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47750" y="9229725"/>
            <a:ext cx="52978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tech@aconcagua.com.py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572250" y="8953500"/>
            <a:ext cx="52978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72250" y="9229725"/>
            <a:ext cx="52978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 · branch develop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096750" y="8953500"/>
            <a:ext cx="52978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STACK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096750" y="9229725"/>
            <a:ext cx="52978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Django 5.2 · Python 3.13 · PG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2026-04-28T21:08:50Z</dcterms:created>
  <dcterms:modified xsi:type="dcterms:W3CDTF">2026-04-28T21:08:50Z</dcterms:modified>
</cp:coreProperties>
</file>